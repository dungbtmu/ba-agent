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37160" y="137160"/>
            <a:ext cx="11914632" cy="6583680"/>
          </a:xfrm>
          <a:prstGeom prst="rect">
            <a:avLst/>
          </a:prstGeom>
          <a:solidFill>
            <a:srgbClr val="FFFFFF"/>
          </a:solidFill>
          <a:ln w="12700">
            <a:solidFill>
              <a:srgbClr val="1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144000" cy="1280160"/>
          </a:xfrm>
          <a:prstGeom prst="rect">
            <a:avLst/>
          </a:prstGeom>
          <a:noFill/>
        </p:spPr>
        <p:txBody>
          <a:bodyPr wrap="square">
            <a:spAutoFit/>
          </a:bodyPr>
          <a:lstStyle/>
          <a:p>
            <a:pPr algn="ctr"/>
            <a:r>
              <a:rPr sz="4400" b="1" i="0">
                <a:solidFill>
                  <a:srgbClr val="1B2A4A"/>
                </a:solidFill>
                <a:latin typeface="Arial"/>
              </a:rPr>
              <a:t>Báo cáo thử việc</a:t>
            </a:r>
          </a:p>
        </p:txBody>
      </p:sp>
      <p:sp>
        <p:nvSpPr>
          <p:cNvPr id="4" name="Rectangle 3"/>
          <p:cNvSpPr/>
          <p:nvPr/>
        </p:nvSpPr>
        <p:spPr>
          <a:xfrm>
            <a:off x="3200400" y="3200400"/>
            <a:ext cx="5486400" cy="64008"/>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3474720"/>
            <a:ext cx="6858000" cy="457200"/>
          </a:xfrm>
          <a:prstGeom prst="rect">
            <a:avLst/>
          </a:prstGeom>
          <a:noFill/>
        </p:spPr>
        <p:txBody>
          <a:bodyPr wrap="square">
            <a:spAutoFit/>
          </a:bodyPr>
          <a:lstStyle/>
          <a:p>
            <a:pPr algn="ctr"/>
            <a:r>
              <a:rPr sz="1700" b="0" i="0">
                <a:solidFill>
                  <a:srgbClr val="444444"/>
                </a:solidFill>
                <a:latin typeface="Arial"/>
              </a:rPr>
              <a:t>Họ tên: *(điền sau)*</a:t>
            </a:r>
          </a:p>
        </p:txBody>
      </p:sp>
      <p:sp>
        <p:nvSpPr>
          <p:cNvPr id="6" name="TextBox 5"/>
          <p:cNvSpPr txBox="1"/>
          <p:nvPr/>
        </p:nvSpPr>
        <p:spPr>
          <a:xfrm>
            <a:off x="2743200" y="3977639"/>
            <a:ext cx="6858000" cy="457200"/>
          </a:xfrm>
          <a:prstGeom prst="rect">
            <a:avLst/>
          </a:prstGeom>
          <a:noFill/>
        </p:spPr>
        <p:txBody>
          <a:bodyPr wrap="square">
            <a:spAutoFit/>
          </a:bodyPr>
          <a:lstStyle/>
          <a:p>
            <a:pPr algn="ctr"/>
            <a:r>
              <a:rPr sz="1700" b="0" i="0">
                <a:solidFill>
                  <a:srgbClr val="444444"/>
                </a:solidFill>
                <a:latin typeface="Arial"/>
              </a:rPr>
              <a:t>Chuyên viên Phân tích Nghiệp vụ (Business Analyst)</a:t>
            </a:r>
          </a:p>
        </p:txBody>
      </p:sp>
      <p:sp>
        <p:nvSpPr>
          <p:cNvPr id="7" name="TextBox 6"/>
          <p:cNvSpPr txBox="1"/>
          <p:nvPr/>
        </p:nvSpPr>
        <p:spPr>
          <a:xfrm>
            <a:off x="2743200" y="4480560"/>
            <a:ext cx="6858000" cy="457200"/>
          </a:xfrm>
          <a:prstGeom prst="rect">
            <a:avLst/>
          </a:prstGeom>
          <a:noFill/>
        </p:spPr>
        <p:txBody>
          <a:bodyPr wrap="square">
            <a:spAutoFit/>
          </a:bodyPr>
          <a:lstStyle/>
          <a:p>
            <a:pPr algn="ctr"/>
            <a:r>
              <a:rPr sz="1700" b="0" i="0">
                <a:solidFill>
                  <a:srgbClr val="444444"/>
                </a:solidFill>
                <a:latin typeface="Arial"/>
              </a:rPr>
              <a:t>Phòng: …</a:t>
            </a:r>
          </a:p>
        </p:txBody>
      </p:sp>
      <p:sp>
        <p:nvSpPr>
          <p:cNvPr id="8" name="TextBox 7"/>
          <p:cNvSpPr txBox="1"/>
          <p:nvPr/>
        </p:nvSpPr>
        <p:spPr>
          <a:xfrm>
            <a:off x="2743200" y="4983480"/>
            <a:ext cx="6858000" cy="457200"/>
          </a:xfrm>
          <a:prstGeom prst="rect">
            <a:avLst/>
          </a:prstGeom>
          <a:noFill/>
        </p:spPr>
        <p:txBody>
          <a:bodyPr wrap="square">
            <a:spAutoFit/>
          </a:bodyPr>
          <a:lstStyle/>
          <a:p>
            <a:pPr algn="ctr"/>
            <a:r>
              <a:rPr sz="1700" b="0" i="0">
                <a:solidFill>
                  <a:srgbClr val="444444"/>
                </a:solidFill>
                <a:latin typeface="Arial"/>
              </a:rPr>
              <a:t>Thời gian từ ../../202.. – ../../202..</a:t>
            </a:r>
          </a:p>
        </p:txBody>
      </p:sp>
      <p:sp>
        <p:nvSpPr>
          <p:cNvPr id="9" name="TextBox 8"/>
          <p:cNvSpPr txBox="1"/>
          <p:nvPr/>
        </p:nvSpPr>
        <p:spPr>
          <a:xfrm>
            <a:off x="9875520" y="6035040"/>
            <a:ext cx="1920240" cy="457200"/>
          </a:xfrm>
          <a:prstGeom prst="rect">
            <a:avLst/>
          </a:prstGeom>
          <a:noFill/>
        </p:spPr>
        <p:txBody>
          <a:bodyPr wrap="square">
            <a:spAutoFit/>
          </a:bodyPr>
          <a:lstStyle/>
          <a:p>
            <a:pPr algn="r"/>
            <a:r>
              <a:rPr sz="1000" b="1" i="0">
                <a:solidFill>
                  <a:srgbClr val="1B2A4A"/>
                </a:solidFill>
                <a:latin typeface="Arial"/>
              </a:rPr>
              <a:t>VIETNAM POST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I. Nội dung công việc được giao</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TextBox 5"/>
          <p:cNvSpPr txBox="1"/>
          <p:nvPr/>
        </p:nvSpPr>
        <p:spPr>
          <a:xfrm>
            <a:off x="365760" y="1188720"/>
            <a:ext cx="11430000" cy="5394960"/>
          </a:xfrm>
          <a:prstGeom prst="rect">
            <a:avLst/>
          </a:prstGeom>
          <a:noFill/>
        </p:spPr>
        <p:txBody>
          <a:bodyPr wrap="square">
            <a:spAutoFit/>
          </a:bodyPr>
          <a:lstStyle/>
          <a:p>
            <a:pPr>
              <a:spcBef>
                <a:spcPts val="600"/>
              </a:spcBef>
            </a:pPr>
            <a:r>
              <a:rPr sz="1700">
                <a:solidFill>
                  <a:srgbClr val="444444"/>
                </a:solidFill>
                <a:latin typeface="Arial"/>
              </a:rPr>
              <a:t>1.  Tham gia làm việc với Ban Viễn thông Di động (VTDĐ) để làm rõ và chốt yêu cầu nghiệp vụ cho hệ thống Quản lý Giá trị Khách hàng (CVM).</a:t>
            </a:r>
          </a:p>
          <a:p>
            <a:pPr>
              <a:spcBef>
                <a:spcPts val="600"/>
              </a:spcBef>
            </a:pPr>
            <a:r>
              <a:rPr sz="1700">
                <a:solidFill>
                  <a:srgbClr val="444444"/>
                </a:solidFill>
                <a:latin typeface="Arial"/>
              </a:rPr>
              <a:t>2.  Thiết kế và trình bày giao diện hệ thống CVM để Ban VTDĐ xem xét, góp ý và chốt phương án trước khi đưa vào phát triển.</a:t>
            </a:r>
          </a:p>
          <a:p>
            <a:pPr>
              <a:spcBef>
                <a:spcPts val="600"/>
              </a:spcBef>
            </a:pPr>
            <a:r>
              <a:rPr sz="1700">
                <a:solidFill>
                  <a:srgbClr val="444444"/>
                </a:solidFill>
                <a:latin typeface="Arial"/>
              </a:rPr>
              <a:t>3.  Lập tài liệu đặc tả yêu cầu (URD/SRS) phục vụ đội phát triển triển khai hệ thống CVM đúng nghiệp vụ đã chốt.</a:t>
            </a:r>
          </a:p>
          <a:p>
            <a:pPr>
              <a:spcBef>
                <a:spcPts val="600"/>
              </a:spcBef>
            </a:pPr>
            <a:r>
              <a:rPr sz="1700">
                <a:solidFill>
                  <a:srgbClr val="444444"/>
                </a:solidFill>
                <a:latin typeface="Arial"/>
              </a:rPr>
              <a:t>4.  Hỗ trợ đội phát triển trong quá trình xây dựng sản phẩm — giải đáp thắc mắc nghiệp vụ, xác nhận các tình huống chưa rõ.</a:t>
            </a:r>
          </a:p>
          <a:p>
            <a:pPr>
              <a:spcBef>
                <a:spcPts val="600"/>
              </a:spcBef>
            </a:pPr>
            <a:r>
              <a:rPr sz="1700">
                <a:solidFill>
                  <a:srgbClr val="444444"/>
                </a:solidFill>
                <a:latin typeface="Arial"/>
              </a:rPr>
              <a:t>5.  Phối hợp hoàn thiện Tờ trình phương án và kế hoạch triển khai hệ thống CVM trình cấp có thẩm quyền phê duyệt.</a:t>
            </a:r>
          </a:p>
          <a:p>
            <a:pPr>
              <a:spcBef>
                <a:spcPts val="600"/>
              </a:spcBef>
            </a:pPr>
            <a:r>
              <a:rPr sz="1700">
                <a:solidFill>
                  <a:srgbClr val="444444"/>
                </a:solidFill>
                <a:latin typeface="Arial"/>
              </a:rPr>
              <a:t>6.  Phối hợp hoàn thiện 02 Quy trình vận hành hệ thống CVM (Quy trình Phối hợp &amp; Xử lý lỗi; Quy trình Tiếp nhận &amp; Phát triển tính năng mới).</a:t>
            </a:r>
          </a:p>
          <a:p>
            <a:pPr>
              <a:spcBef>
                <a:spcPts val="600"/>
              </a:spcBef>
            </a:pPr>
            <a:r>
              <a:rPr sz="1700">
                <a:solidFill>
                  <a:srgbClr val="444444"/>
                </a:solidFill>
                <a:latin typeface="Arial"/>
              </a:rPr>
              <a:t>7.  Nghiên cứu domain và xây dựng tài liệu đầu vào cho dự án Nền tảng Dữ liệu Khách hàng (CDP) của VNPost.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II. Kết quả thực hiện — Dự án CVM (1/2)</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Rectangle 5"/>
          <p:cNvSpPr/>
          <p:nvPr/>
        </p:nvSpPr>
        <p:spPr>
          <a:xfrm>
            <a:off x="365760" y="1115568"/>
            <a:ext cx="11430000" cy="347472"/>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15568"/>
            <a:ext cx="10972800" cy="347472"/>
          </a:xfrm>
          <a:prstGeom prst="rect">
            <a:avLst/>
          </a:prstGeom>
          <a:noFill/>
        </p:spPr>
        <p:txBody>
          <a:bodyPr wrap="square">
            <a:spAutoFit/>
          </a:bodyPr>
          <a:lstStyle/>
          <a:p>
            <a:pPr algn="l"/>
            <a:r>
              <a:rPr sz="1400" b="0" i="1">
                <a:solidFill>
                  <a:srgbClr val="1B2A4A"/>
                </a:solidFill>
                <a:latin typeface="Arial"/>
              </a:rPr>
              <a:t>Trạng thái: Hoàn thành giai đoạn phân tích &amp; bàn giao — đội phát triển đã dựng xong môi trường UAT; BA đang phối hợp kiểm tra nghiệp vụ.</a:t>
            </a:r>
          </a:p>
        </p:txBody>
      </p:sp>
      <p:sp>
        <p:nvSpPr>
          <p:cNvPr id="8" name="TextBox 7"/>
          <p:cNvSpPr txBox="1"/>
          <p:nvPr/>
        </p:nvSpPr>
        <p:spPr>
          <a:xfrm>
            <a:off x="365760" y="1554480"/>
            <a:ext cx="11430000" cy="5029200"/>
          </a:xfrm>
          <a:prstGeom prst="rect">
            <a:avLst/>
          </a:prstGeom>
          <a:noFill/>
        </p:spPr>
        <p:txBody>
          <a:bodyPr wrap="square">
            <a:spAutoFit/>
          </a:bodyPr>
          <a:lstStyle/>
          <a:p>
            <a:pPr>
              <a:spcBef>
                <a:spcPts val="800"/>
              </a:spcBef>
            </a:pPr>
            <a:r>
              <a:rPr sz="1600" b="1">
                <a:solidFill>
                  <a:srgbClr val="1B2A4A"/>
                </a:solidFill>
                <a:latin typeface="Arial"/>
              </a:rPr>
              <a:t>a. Làm rõ và chốt yêu cầu nghiệp vụ với Ban VTDĐ</a:t>
            </a:r>
          </a:p>
          <a:p>
            <a:pPr>
              <a:spcBef>
                <a:spcPts val="200"/>
              </a:spcBef>
            </a:pPr>
            <a:r>
              <a:rPr sz="1500">
                <a:solidFill>
                  <a:srgbClr val="444444"/>
                </a:solidFill>
                <a:latin typeface="Arial"/>
              </a:rPr>
              <a:t>    • Tham gia các buổi làm việc, hệ thống hóa toàn bộ luồng nghiệp vụ từ tiếp nhận sự kiện khách hàng (sinh nhật, hết data, nạp tiền...) đến tự động gửi thông báo đúng kênh, đúng nội dung, đúng thời điểm.</a:t>
            </a:r>
          </a:p>
          <a:p>
            <a:pPr>
              <a:spcBef>
                <a:spcPts val="200"/>
              </a:spcBef>
            </a:pPr>
            <a:r>
              <a:rPr sz="1500">
                <a:solidFill>
                  <a:srgbClr val="444444"/>
                </a:solidFill>
                <a:latin typeface="Arial"/>
              </a:rPr>
              <a:t>    • Làm rõ quy tắc kích hoạt campaign, kiểm soát tần suất gửi tin, quy trình phê duyệt trước khi phát hành.</a:t>
            </a:r>
          </a:p>
          <a:p>
            <a:pPr>
              <a:spcBef>
                <a:spcPts val="200"/>
              </a:spcBef>
            </a:pPr>
            <a:r>
              <a:rPr sz="1500">
                <a:solidFill>
                  <a:srgbClr val="444444"/>
                </a:solidFill>
                <a:latin typeface="Arial"/>
              </a:rPr>
              <a:t>    • Xác định 2 nhóm người dùng và phân quyền: Quản trị viên Campaign, Admin Hệ thống.</a:t>
            </a:r>
          </a:p>
          <a:p>
            <a:pPr>
              <a:spcBef>
                <a:spcPts val="800"/>
              </a:spcBef>
            </a:pPr>
            <a:r>
              <a:rPr sz="1600" b="1">
                <a:solidFill>
                  <a:srgbClr val="1B2A4A"/>
                </a:solidFill>
                <a:latin typeface="Arial"/>
              </a:rPr>
              <a:t>b. Thiết kế và trình bày giao diện — chốt phương án với Ban VTDĐ</a:t>
            </a:r>
          </a:p>
          <a:p>
            <a:pPr>
              <a:spcBef>
                <a:spcPts val="200"/>
              </a:spcBef>
            </a:pPr>
            <a:r>
              <a:rPr sz="1500">
                <a:solidFill>
                  <a:srgbClr val="444444"/>
                </a:solidFill>
                <a:latin typeface="Arial"/>
              </a:rPr>
              <a:t>    • Thiết kế giao diện cho 12 màn hình chức năng, bao phủ toàn bộ vòng đời campaign.</a:t>
            </a:r>
          </a:p>
          <a:p>
            <a:pPr>
              <a:spcBef>
                <a:spcPts val="200"/>
              </a:spcBef>
            </a:pPr>
            <a:r>
              <a:rPr sz="1500">
                <a:solidFill>
                  <a:srgbClr val="444444"/>
                </a:solidFill>
                <a:latin typeface="Arial"/>
              </a:rPr>
              <a:t>    • Trình bày cho Ban VTDĐ, tiếp nhận góp ý và điều chỉnh đến khi được chốt.</a:t>
            </a:r>
          </a:p>
          <a:p>
            <a:pPr>
              <a:spcBef>
                <a:spcPts val="200"/>
              </a:spcBef>
            </a:pPr>
            <a:r>
              <a:rPr sz="1500">
                <a:solidFill>
                  <a:srgbClr val="444444"/>
                </a:solidFill>
                <a:latin typeface="Arial"/>
              </a:rPr>
              <a:t>    • Hỗ trợ 6 kênh giao tiếp: SMS, Zalo OA, Thông báo đẩy, Biểu ngữ App/Web, USSD, Email.</a:t>
            </a:r>
          </a:p>
          <a:p>
            <a:pPr>
              <a:spcBef>
                <a:spcPts val="800"/>
              </a:spcBef>
            </a:pPr>
            <a:r>
              <a:rPr sz="1600" b="1">
                <a:solidFill>
                  <a:srgbClr val="1B2A4A"/>
                </a:solidFill>
                <a:latin typeface="Arial"/>
              </a:rPr>
              <a:t>c. Lập tài liệu đặc tả yêu cầu (URD/SRS) bàn giao cho Dev/Tester</a:t>
            </a:r>
          </a:p>
          <a:p>
            <a:pPr>
              <a:spcBef>
                <a:spcPts val="200"/>
              </a:spcBef>
            </a:pPr>
            <a:r>
              <a:rPr sz="1500">
                <a:solidFill>
                  <a:srgbClr val="444444"/>
                </a:solidFill>
                <a:latin typeface="Arial"/>
              </a:rPr>
              <a:t>    • Bao gồm: sơ đồ quy trình nghiệp vụ, phân cấp chức năng, ma trận phân quyền, sơ đồ trình tự, đặc tả từng màn hình và từng tình huống sử dụng.</a:t>
            </a:r>
          </a:p>
          <a:p>
            <a:pPr>
              <a:spcBef>
                <a:spcPts val="200"/>
              </a:spcBef>
            </a:pPr>
            <a:r>
              <a:rPr sz="1500">
                <a:solidFill>
                  <a:srgbClr val="444444"/>
                </a:solidFill>
                <a:latin typeface="Arial"/>
              </a:rPr>
              <a:t>    • Mỗi màn hình đặc tả chi tiết: thành phần giao diện, điều kiện hiển thị, quy tắc kiểm tra đầu vào, các trạng thái đặc biệt.</a:t>
            </a:r>
          </a:p>
          <a:p>
            <a:pPr>
              <a:spcBef>
                <a:spcPts val="200"/>
              </a:spcBef>
            </a:pPr>
            <a:r>
              <a:rPr sz="1500">
                <a:solidFill>
                  <a:srgbClr val="444444"/>
                </a:solidFill>
                <a:latin typeface="Arial"/>
              </a:rPr>
              <a:t>    • Lập thêm bộ tài liệu phân tích tích hợp dữ liệu BSS ↔ CVM (5 tài liệu thành phần).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II. Kết quả thực hiện — Dự án CVM (2/2)</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TextBox 5"/>
          <p:cNvSpPr txBox="1"/>
          <p:nvPr/>
        </p:nvSpPr>
        <p:spPr>
          <a:xfrm>
            <a:off x="365760" y="1188720"/>
            <a:ext cx="11430000" cy="5394960"/>
          </a:xfrm>
          <a:prstGeom prst="rect">
            <a:avLst/>
          </a:prstGeom>
          <a:noFill/>
        </p:spPr>
        <p:txBody>
          <a:bodyPr wrap="square">
            <a:spAutoFit/>
          </a:bodyPr>
          <a:lstStyle/>
          <a:p>
            <a:pPr>
              <a:spcBef>
                <a:spcPts val="800"/>
              </a:spcBef>
            </a:pPr>
            <a:r>
              <a:rPr sz="1600" b="1">
                <a:solidFill>
                  <a:srgbClr val="1B2A4A"/>
                </a:solidFill>
                <a:latin typeface="Arial"/>
              </a:rPr>
              <a:t>d. Hỗ trợ đội phát triển trong quá trình xây dựng sản phẩm</a:t>
            </a:r>
          </a:p>
          <a:p>
            <a:pPr>
              <a:spcBef>
                <a:spcPts val="200"/>
              </a:spcBef>
            </a:pPr>
            <a:r>
              <a:rPr sz="1500">
                <a:solidFill>
                  <a:srgbClr val="444444"/>
                </a:solidFill>
                <a:latin typeface="Arial"/>
              </a:rPr>
              <a:t>    • Giải đáp câu hỏi nghiệp vụ, xác nhận tình huống chưa rõ, bổ sung đặc tả khi cần thiết.</a:t>
            </a:r>
          </a:p>
          <a:p>
            <a:pPr>
              <a:spcBef>
                <a:spcPts val="200"/>
              </a:spcBef>
            </a:pPr>
            <a:r>
              <a:rPr sz="1500">
                <a:solidFill>
                  <a:srgbClr val="444444"/>
                </a:solidFill>
                <a:latin typeface="Arial"/>
              </a:rPr>
              <a:t>    • Đối chiếu sản phẩm đang phát triển với yêu cầu đã chốt — phát hiện và xử lý kịp thời các điểm chưa khớp.</a:t>
            </a:r>
          </a:p>
          <a:p>
            <a:pPr>
              <a:spcBef>
                <a:spcPts val="800"/>
              </a:spcBef>
            </a:pPr>
            <a:r>
              <a:rPr sz="1600" b="1">
                <a:solidFill>
                  <a:srgbClr val="1B2A4A"/>
                </a:solidFill>
                <a:latin typeface="Arial"/>
              </a:rPr>
              <a:t>e. Phối hợp hoàn thiện Tờ trình phương án triển khai hệ thống CVM</a:t>
            </a:r>
          </a:p>
          <a:p>
            <a:pPr>
              <a:spcBef>
                <a:spcPts val="200"/>
              </a:spcBef>
            </a:pPr>
            <a:r>
              <a:rPr sz="1500">
                <a:solidFill>
                  <a:srgbClr val="444444"/>
                </a:solidFill>
                <a:latin typeface="Arial"/>
              </a:rPr>
              <a:t>    • Tham gia soạn thảo và rà soát nội dung Tờ trình trình cấp có thẩm quyền phê duyệt.</a:t>
            </a:r>
          </a:p>
          <a:p>
            <a:pPr>
              <a:spcBef>
                <a:spcPts val="200"/>
              </a:spcBef>
            </a:pPr>
            <a:r>
              <a:rPr sz="1500">
                <a:solidFill>
                  <a:srgbClr val="444444"/>
                </a:solidFill>
                <a:latin typeface="Arial"/>
              </a:rPr>
              <a:t>    • Đảm bảo nội dung phản ánh đúng phạm vi, mục tiêu nghiệp vụ và lộ trình triển khai đã thống nhất.</a:t>
            </a:r>
          </a:p>
          <a:p>
            <a:pPr>
              <a:spcBef>
                <a:spcPts val="800"/>
              </a:spcBef>
            </a:pPr>
            <a:r>
              <a:rPr sz="1600" b="1">
                <a:solidFill>
                  <a:srgbClr val="1B2A4A"/>
                </a:solidFill>
                <a:latin typeface="Arial"/>
              </a:rPr>
              <a:t>f. Phối hợp hoàn thiện 02 Quy trình vận hành hệ thống CVM</a:t>
            </a:r>
          </a:p>
          <a:p>
            <a:pPr>
              <a:spcBef>
                <a:spcPts val="200"/>
              </a:spcBef>
            </a:pPr>
            <a:r>
              <a:rPr sz="1500">
                <a:solidFill>
                  <a:srgbClr val="444444"/>
                </a:solidFill>
                <a:latin typeface="Arial"/>
              </a:rPr>
              <a:t>    • Quy trình Phối hợp và Xử lý lỗi — quy định cách phối hợp giữa các bên và xử lý sự cố trong vận hành.</a:t>
            </a:r>
          </a:p>
          <a:p>
            <a:pPr>
              <a:spcBef>
                <a:spcPts val="200"/>
              </a:spcBef>
            </a:pPr>
            <a:r>
              <a:rPr sz="1500">
                <a:solidFill>
                  <a:srgbClr val="444444"/>
                </a:solidFill>
                <a:latin typeface="Arial"/>
              </a:rPr>
              <a:t>    • Quy trình Tiếp nhận và Phát triển tính năng mới — quy định luồng tiếp nhận, đánh giá và triển khai tính năng bổ sung.</a:t>
            </a:r>
          </a:p>
          <a:p>
            <a:pPr>
              <a:spcBef>
                <a:spcPts val="800"/>
              </a:spcBef>
            </a:pPr>
            <a:r>
              <a:rPr sz="1600" b="1">
                <a:solidFill>
                  <a:srgbClr val="1A7A3C"/>
                </a:solidFill>
                <a:latin typeface="Arial"/>
              </a:rPr>
              <a:t>Kết quả bàn giao</a:t>
            </a:r>
          </a:p>
          <a:p>
            <a:pPr>
              <a:spcBef>
                <a:spcPts val="200"/>
              </a:spcBef>
            </a:pPr>
            <a:r>
              <a:rPr sz="1500">
                <a:solidFill>
                  <a:srgbClr val="444444"/>
                </a:solidFill>
                <a:latin typeface="Arial"/>
              </a:rPr>
              <a:t>    • Bản giao diện hoàn chỉnh (12 màn hình, 6 kênh) đã được Ban VTDĐ chốt.</a:t>
            </a:r>
          </a:p>
          <a:p>
            <a:pPr>
              <a:spcBef>
                <a:spcPts val="200"/>
              </a:spcBef>
            </a:pPr>
            <a:r>
              <a:rPr sz="1500">
                <a:solidFill>
                  <a:srgbClr val="444444"/>
                </a:solidFill>
                <a:latin typeface="Arial"/>
              </a:rPr>
              <a:t>    • Tài liệu URD/SRS hoàn chỉnh — Dev/Tester làm việc trực tiếp không cần hỏi thêm.</a:t>
            </a:r>
          </a:p>
          <a:p>
            <a:pPr>
              <a:spcBef>
                <a:spcPts val="200"/>
              </a:spcBef>
            </a:pPr>
            <a:r>
              <a:rPr sz="1500">
                <a:solidFill>
                  <a:srgbClr val="444444"/>
                </a:solidFill>
                <a:latin typeface="Arial"/>
              </a:rPr>
              <a:t>    • Bộ tài liệu phân tích tích hợp BSS ↔ CVM (5 tài liệu thành phần).</a:t>
            </a:r>
          </a:p>
          <a:p>
            <a:pPr>
              <a:spcBef>
                <a:spcPts val="200"/>
              </a:spcBef>
            </a:pPr>
            <a:r>
              <a:rPr sz="1500">
                <a:solidFill>
                  <a:srgbClr val="444444"/>
                </a:solidFill>
                <a:latin typeface="Arial"/>
              </a:rPr>
              <a:t>    • Tờ trình đã được hoàn thiện và trình duyệt.</a:t>
            </a:r>
          </a:p>
          <a:p>
            <a:pPr>
              <a:spcBef>
                <a:spcPts val="200"/>
              </a:spcBef>
            </a:pPr>
            <a:r>
              <a:rPr sz="1500">
                <a:solidFill>
                  <a:srgbClr val="444444"/>
                </a:solidFill>
                <a:latin typeface="Arial"/>
              </a:rPr>
              <a:t>    • 02 Quy trình vận hành đã hoàn thiện, sẵn sàng áp dụng khi hệ thống đi vào vận hành.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II. Kết quả thực hiện — Dự án CDP (VNPost)</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Rectangle 5"/>
          <p:cNvSpPr/>
          <p:nvPr/>
        </p:nvSpPr>
        <p:spPr>
          <a:xfrm>
            <a:off x="365760" y="1115568"/>
            <a:ext cx="11430000" cy="347472"/>
          </a:xfrm>
          <a:prstGeom prst="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15568"/>
            <a:ext cx="10972800" cy="347472"/>
          </a:xfrm>
          <a:prstGeom prst="rect">
            <a:avLst/>
          </a:prstGeom>
          <a:noFill/>
        </p:spPr>
        <p:txBody>
          <a:bodyPr wrap="square">
            <a:spAutoFit/>
          </a:bodyPr>
          <a:lstStyle/>
          <a:p>
            <a:pPr algn="l"/>
            <a:r>
              <a:rPr sz="1400" b="0" i="1">
                <a:solidFill>
                  <a:srgbClr val="1B2A4A"/>
                </a:solidFill>
                <a:latin typeface="Arial"/>
              </a:rPr>
              <a:t>Trạng thái: Hoàn thành giai đoạn nghiên cứu — tài liệu đã gửi nội bộ review; bước tiếp theo là tổ chức buổi làm việc chính thức với đầu mối VNPost.</a:t>
            </a:r>
          </a:p>
        </p:txBody>
      </p:sp>
      <p:sp>
        <p:nvSpPr>
          <p:cNvPr id="8" name="TextBox 7"/>
          <p:cNvSpPr txBox="1"/>
          <p:nvPr/>
        </p:nvSpPr>
        <p:spPr>
          <a:xfrm>
            <a:off x="365760" y="1554480"/>
            <a:ext cx="11430000" cy="5029200"/>
          </a:xfrm>
          <a:prstGeom prst="rect">
            <a:avLst/>
          </a:prstGeom>
          <a:noFill/>
        </p:spPr>
        <p:txBody>
          <a:bodyPr wrap="square">
            <a:spAutoFit/>
          </a:bodyPr>
          <a:lstStyle/>
          <a:p>
            <a:pPr>
              <a:spcBef>
                <a:spcPts val="1000"/>
              </a:spcBef>
            </a:pPr>
            <a:r>
              <a:rPr sz="1600" b="1">
                <a:solidFill>
                  <a:srgbClr val="1B2A4A"/>
                </a:solidFill>
                <a:latin typeface="Arial"/>
              </a:rPr>
              <a:t>Nội dung đã thực hiện</a:t>
            </a:r>
          </a:p>
          <a:p>
            <a:pPr>
              <a:spcBef>
                <a:spcPts val="300"/>
              </a:spcBef>
            </a:pPr>
            <a:r>
              <a:rPr sz="1500">
                <a:solidFill>
                  <a:srgbClr val="444444"/>
                </a:solidFill>
                <a:latin typeface="Arial"/>
              </a:rPr>
              <a:t>    • Nghiên cứu toàn diện nghiệp vụ bưu chính và hệ sinh thái công nghệ VNPost: 8+ hệ thống IT đang vận hành, 8 giai đoạn chuỗi chuyển phát, đặc điểm dữ liệu khách hàng.</a:t>
            </a:r>
          </a:p>
          <a:p>
            <a:pPr>
              <a:spcBef>
                <a:spcPts val="300"/>
              </a:spcBef>
            </a:pPr>
            <a:r>
              <a:rPr sz="1500">
                <a:solidFill>
                  <a:srgbClr val="444444"/>
                </a:solidFill>
                <a:latin typeface="Arial"/>
              </a:rPr>
              <a:t>    • Phân tích bài toán định danh khách hàng phức tạp: một khách hàng xuất hiện dưới nhiều vai trò (người gửi, người nhận, chủ tài khoản...).</a:t>
            </a:r>
          </a:p>
          <a:p>
            <a:pPr>
              <a:spcBef>
                <a:spcPts val="300"/>
              </a:spcBef>
            </a:pPr>
            <a:r>
              <a:rPr sz="1500">
                <a:solidFill>
                  <a:srgbClr val="444444"/>
                </a:solidFill>
                <a:latin typeface="Arial"/>
              </a:rPr>
              <a:t>    • Đánh giá 3 phương án triển khai: tự xây dựng (Build) / mua giải pháp có sẵn (Buy) / hợp tác đối tác (Partner) — kèm khuyến nghị cụ thể.</a:t>
            </a:r>
          </a:p>
          <a:p>
            <a:pPr>
              <a:spcBef>
                <a:spcPts val="300"/>
              </a:spcBef>
            </a:pPr>
            <a:r>
              <a:rPr sz="1500">
                <a:solidFill>
                  <a:srgbClr val="444444"/>
                </a:solidFill>
                <a:latin typeface="Arial"/>
              </a:rPr>
              <a:t>    • Cập nhật khung pháp lý mới nhất về bảo vệ dữ liệu cá nhân áp dụng từ 01/01/2026 (Luật 91/2025/QH15 và NĐ 356/2025/NĐ-CP).</a:t>
            </a:r>
          </a:p>
          <a:p>
            <a:pPr>
              <a:spcBef>
                <a:spcPts val="1000"/>
              </a:spcBef>
            </a:pPr>
            <a:r>
              <a:rPr sz="1600" b="1">
                <a:solidFill>
                  <a:srgbClr val="1A7A3C"/>
                </a:solidFill>
                <a:latin typeface="Arial"/>
              </a:rPr>
              <a:t>Kết quả</a:t>
            </a:r>
          </a:p>
          <a:p>
            <a:pPr>
              <a:spcBef>
                <a:spcPts val="300"/>
              </a:spcBef>
            </a:pPr>
            <a:r>
              <a:rPr sz="1500">
                <a:solidFill>
                  <a:srgbClr val="444444"/>
                </a:solidFill>
                <a:latin typeface="Arial"/>
              </a:rPr>
              <a:t>    • Tài liệu nghiên cứu domain (Domain Brief) hoàn chỉnh — sẵn sàng làm nền tảng cho giai đoạn phân tích chính thức.</a:t>
            </a:r>
          </a:p>
          <a:p>
            <a:pPr>
              <a:spcBef>
                <a:spcPts val="300"/>
              </a:spcBef>
            </a:pPr>
            <a:r>
              <a:rPr sz="1500">
                <a:solidFill>
                  <a:srgbClr val="444444"/>
                </a:solidFill>
                <a:latin typeface="Arial"/>
              </a:rPr>
              <a:t>    • Xác định 5 nhóm người dùng liên quan và đề xuất phương án triển khai kèm phân tích rủi ro, lộ trình khuyến nghị.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III. Khó khăn gặp phải</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TextBox 5"/>
          <p:cNvSpPr txBox="1"/>
          <p:nvPr/>
        </p:nvSpPr>
        <p:spPr>
          <a:xfrm>
            <a:off x="365760" y="1188720"/>
            <a:ext cx="11430000" cy="5394960"/>
          </a:xfrm>
          <a:prstGeom prst="rect">
            <a:avLst/>
          </a:prstGeom>
          <a:noFill/>
        </p:spPr>
        <p:txBody>
          <a:bodyPr wrap="square">
            <a:spAutoFit/>
          </a:bodyPr>
          <a:lstStyle/>
          <a:p>
            <a:pPr>
              <a:spcBef>
                <a:spcPts val="1000"/>
              </a:spcBef>
            </a:pPr>
            <a:r>
              <a:rPr sz="1600" b="1">
                <a:solidFill>
                  <a:srgbClr val="1B2A4A"/>
                </a:solidFill>
                <a:latin typeface="Arial"/>
              </a:rPr>
              <a:t>1. Yêu cầu nghiệp vụ thay đổi trong quá trình làm việc (dự án CVM)</a:t>
            </a:r>
          </a:p>
          <a:p>
            <a:pPr>
              <a:spcBef>
                <a:spcPts val="200"/>
              </a:spcBef>
            </a:pPr>
            <a:r>
              <a:rPr sz="1500" i="1">
                <a:solidFill>
                  <a:srgbClr val="444444"/>
                </a:solidFill>
                <a:latin typeface="Arial"/>
              </a:rPr>
              <a:t>    → Hướng xử lý: cập nhật đúng phần bị ảnh hưởng, không làm lại từ đầu; duy trì ghi chép lịch sử thay đổi để đảm bảo truy vết.</a:t>
            </a:r>
          </a:p>
          <a:p>
            <a:pPr>
              <a:spcBef>
                <a:spcPts val="1000"/>
              </a:spcBef>
            </a:pPr>
            <a:r>
              <a:rPr sz="1600" b="1">
                <a:solidFill>
                  <a:srgbClr val="1B2A4A"/>
                </a:solidFill>
                <a:latin typeface="Arial"/>
              </a:rPr>
              <a:t>2. Chờ phản hồi từ phía VNPost cho dự án CDP</a:t>
            </a:r>
          </a:p>
          <a:p>
            <a:pPr>
              <a:spcBef>
                <a:spcPts val="200"/>
              </a:spcBef>
            </a:pPr>
            <a:r>
              <a:rPr sz="1500" i="1">
                <a:solidFill>
                  <a:srgbClr val="444444"/>
                </a:solidFill>
                <a:latin typeface="Arial"/>
              </a:rPr>
              <a:t>    → Hướng xử lý: ghi rõ các điểm còn chờ xác nhận; tiếp tục phần có thể làm độc lập; chuẩn bị sẵn tài liệu để khởi động ngay khi có phản hồi.</a:t>
            </a:r>
          </a:p>
          <a:p>
            <a:pPr>
              <a:spcBef>
                <a:spcPts val="1000"/>
              </a:spcBef>
            </a:pPr>
            <a:r>
              <a:rPr sz="1600" b="1">
                <a:solidFill>
                  <a:srgbClr val="1B2A4A"/>
                </a:solidFill>
                <a:latin typeface="Arial"/>
              </a:rPr>
              <a:t>3. Tiếp cận domain hoàn toàn mới (nghiệp vụ bưu chính, hệ sinh thái IT VNPost)</a:t>
            </a:r>
          </a:p>
          <a:p>
            <a:pPr>
              <a:spcBef>
                <a:spcPts val="200"/>
              </a:spcBef>
            </a:pPr>
            <a:r>
              <a:rPr sz="1500" i="1">
                <a:solidFill>
                  <a:srgbClr val="444444"/>
                </a:solidFill>
                <a:latin typeface="Arial"/>
              </a:rPr>
              <a:t>    → Hướng xử lý: nghiên cứu có hệ thống từ tài liệu được cung cấp; phân tích đặc thù vận hành và quy mô thực tế tại Việt Nam.</a:t>
            </a:r>
          </a:p>
          <a:p>
            <a:pPr>
              <a:spcBef>
                <a:spcPts val="1000"/>
              </a:spcBef>
            </a:pPr>
            <a:r>
              <a:rPr sz="1600" b="1">
                <a:solidFill>
                  <a:srgbClr val="1B2A4A"/>
                </a:solidFill>
                <a:latin typeface="Arial"/>
              </a:rPr>
              <a:t>4. Đảm bảo tài liệu đặc tả và sản phẩm thực tế luôn đồng bộ trong quá trình phát triển</a:t>
            </a:r>
          </a:p>
          <a:p>
            <a:pPr>
              <a:spcBef>
                <a:spcPts val="200"/>
              </a:spcBef>
            </a:pPr>
            <a:r>
              <a:rPr sz="1500" i="1">
                <a:solidFill>
                  <a:srgbClr val="444444"/>
                </a:solidFill>
                <a:latin typeface="Arial"/>
              </a:rPr>
              <a:t>    → Hướng xử lý: thiết lập điểm kiểm tra định kỳ giữa BA và đội phát triển; phát hiện sớm và xử lý kịp thời các điểm chưa khớp.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IV. Đề xuất với vị trí công việc BA</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TextBox 5"/>
          <p:cNvSpPr txBox="1"/>
          <p:nvPr/>
        </p:nvSpPr>
        <p:spPr>
          <a:xfrm>
            <a:off x="365760" y="1188720"/>
            <a:ext cx="11430000" cy="5394960"/>
          </a:xfrm>
          <a:prstGeom prst="rect">
            <a:avLst/>
          </a:prstGeom>
          <a:noFill/>
        </p:spPr>
        <p:txBody>
          <a:bodyPr wrap="square">
            <a:spAutoFit/>
          </a:bodyPr>
          <a:lstStyle/>
          <a:p>
            <a:pPr>
              <a:spcBef>
                <a:spcPts val="1200"/>
              </a:spcBef>
            </a:pPr>
            <a:r>
              <a:rPr sz="1700" b="1">
                <a:solidFill>
                  <a:srgbClr val="1B2A4A"/>
                </a:solidFill>
                <a:latin typeface="Arial"/>
              </a:rPr>
              <a:t>1. Xây dựng quy trình phê duyệt tài liệu nghiệp vụ</a:t>
            </a:r>
          </a:p>
          <a:p>
            <a:pPr>
              <a:spcBef>
                <a:spcPts val="200"/>
              </a:spcBef>
            </a:pPr>
            <a:r>
              <a:rPr sz="1500">
                <a:solidFill>
                  <a:srgbClr val="444444"/>
                </a:solidFill>
                <a:latin typeface="Arial"/>
              </a:rPr>
              <a:t>    Tài liệu đặc tả yêu cầu nên có chữ ký xác nhận từ đại diện bên nghiệp vụ (Ban VTDĐ) và đội phát triển trước khi triển khai, tránh tranh cãi về yêu cầu về sau.</a:t>
            </a:r>
          </a:p>
          <a:p>
            <a:pPr>
              <a:spcBef>
                <a:spcPts val="1200"/>
              </a:spcBef>
            </a:pPr>
            <a:r>
              <a:rPr sz="1700" b="1">
                <a:solidFill>
                  <a:srgbClr val="1B2A4A"/>
                </a:solidFill>
                <a:latin typeface="Arial"/>
              </a:rPr>
              <a:t>2. Tổ chức buổi kickoff chính thức với VNPost</a:t>
            </a:r>
          </a:p>
          <a:p>
            <a:pPr>
              <a:spcBef>
                <a:spcPts val="200"/>
              </a:spcBef>
            </a:pPr>
            <a:r>
              <a:rPr sz="1500">
                <a:solidFill>
                  <a:srgbClr val="444444"/>
                </a:solidFill>
                <a:latin typeface="Arial"/>
              </a:rPr>
              <a:t>    Sớm sắp xếp buổi làm việc để chốt các vấn đề nghiệp vụ cốt lõi của dự án CDP, tránh để dự án bị trì hoãn kéo dài ở giai đoạn nghiên cứu.</a:t>
            </a:r>
          </a:p>
          <a:p>
            <a:pPr>
              <a:spcBef>
                <a:spcPts val="1200"/>
              </a:spcBef>
            </a:pPr>
            <a:r>
              <a:rPr sz="1700" b="1">
                <a:solidFill>
                  <a:srgbClr val="1B2A4A"/>
                </a:solidFill>
                <a:latin typeface="Arial"/>
              </a:rPr>
              <a:t>3. Thiết lập cơ chế phối hợp BA — Đội phát triển</a:t>
            </a:r>
          </a:p>
          <a:p>
            <a:pPr>
              <a:spcBef>
                <a:spcPts val="200"/>
              </a:spcBef>
            </a:pPr>
            <a:r>
              <a:rPr sz="1500">
                <a:solidFill>
                  <a:srgbClr val="444444"/>
                </a:solidFill>
                <a:latin typeface="Arial"/>
              </a:rPr>
              <a:t>    Cần có quy trình rõ ràng để đội phát triển trao đổi với BA khi gặp điểm chưa rõ hoặc cần điều chỉnh, thay vì tự quyết định trong quá trình triển khai.</a:t>
            </a:r>
          </a:p>
          <a:p>
            <a:pPr>
              <a:spcBef>
                <a:spcPts val="1200"/>
              </a:spcBef>
            </a:pPr>
            <a:r>
              <a:rPr sz="1700" b="1">
                <a:solidFill>
                  <a:srgbClr val="1B2A4A"/>
                </a:solidFill>
                <a:latin typeface="Arial"/>
              </a:rPr>
              <a:t>4. Bổ sung kịch bản kiểm thử cơ bản</a:t>
            </a:r>
          </a:p>
          <a:p>
            <a:pPr>
              <a:spcBef>
                <a:spcPts val="200"/>
              </a:spcBef>
            </a:pPr>
            <a:r>
              <a:rPr sz="1500">
                <a:solidFill>
                  <a:srgbClr val="444444"/>
                </a:solidFill>
                <a:latin typeface="Arial"/>
              </a:rPr>
              <a:t>    Cân nhắc lập kịch bản kiểm thử song song với tài liệu đặc tả, giúp đội kiểm thử bắt đầu công việc sớm hơn.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V. Đánh giá về bản thân</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TextBox 5"/>
          <p:cNvSpPr txBox="1"/>
          <p:nvPr/>
        </p:nvSpPr>
        <p:spPr>
          <a:xfrm>
            <a:off x="365760" y="1234440"/>
            <a:ext cx="5669280" cy="411480"/>
          </a:xfrm>
          <a:prstGeom prst="rect">
            <a:avLst/>
          </a:prstGeom>
          <a:noFill/>
        </p:spPr>
        <p:txBody>
          <a:bodyPr wrap="square">
            <a:spAutoFit/>
          </a:bodyPr>
          <a:lstStyle/>
          <a:p>
            <a:pPr algn="l"/>
            <a:r>
              <a:rPr sz="1800" b="1" i="0">
                <a:solidFill>
                  <a:srgbClr val="1A7A3C"/>
                </a:solidFill>
                <a:latin typeface="Arial"/>
              </a:rPr>
              <a:t>Ưu điểm</a:t>
            </a:r>
          </a:p>
        </p:txBody>
      </p:sp>
      <p:sp>
        <p:nvSpPr>
          <p:cNvPr id="7" name="Rectangle 6"/>
          <p:cNvSpPr/>
          <p:nvPr/>
        </p:nvSpPr>
        <p:spPr>
          <a:xfrm>
            <a:off x="365760" y="1645920"/>
            <a:ext cx="5486400" cy="45720"/>
          </a:xfrm>
          <a:prstGeom prst="rect">
            <a:avLst/>
          </a:prstGeom>
          <a:solidFill>
            <a:srgbClr val="1A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737360"/>
            <a:ext cx="5486400" cy="4754880"/>
          </a:xfrm>
          <a:prstGeom prst="rect">
            <a:avLst/>
          </a:prstGeom>
          <a:noFill/>
        </p:spPr>
        <p:txBody>
          <a:bodyPr wrap="square">
            <a:spAutoFit/>
          </a:bodyPr>
          <a:lstStyle/>
          <a:p>
            <a:pPr>
              <a:spcBef>
                <a:spcPts val="800"/>
              </a:spcBef>
            </a:pPr>
            <a:r>
              <a:rPr sz="1600">
                <a:solidFill>
                  <a:srgbClr val="444444"/>
                </a:solidFill>
                <a:latin typeface="Arial"/>
              </a:rPr>
              <a:t>✓  Phân tích bài toán nghiệp vụ phức tạp — nhiều bên liên quan, nhiều luồng quy trình song song.</a:t>
            </a:r>
          </a:p>
          <a:p>
            <a:pPr>
              <a:spcBef>
                <a:spcPts val="800"/>
              </a:spcBef>
            </a:pPr>
            <a:r>
              <a:rPr sz="1600">
                <a:solidFill>
                  <a:srgbClr val="444444"/>
                </a:solidFill>
                <a:latin typeface="Arial"/>
              </a:rPr>
              <a:t>✓  Chủ động nghiên cứu domain mới, không phụ thuộc hướng dẫn bên ngoài.</a:t>
            </a:r>
          </a:p>
          <a:p>
            <a:pPr>
              <a:spcBef>
                <a:spcPts val="800"/>
              </a:spcBef>
            </a:pPr>
            <a:r>
              <a:rPr sz="1600">
                <a:solidFill>
                  <a:srgbClr val="444444"/>
                </a:solidFill>
                <a:latin typeface="Arial"/>
              </a:rPr>
              <a:t>✓  Viết tài liệu rõ ràng, có cấu trúc — Dev/Tester làm việc trực tiếp được.</a:t>
            </a:r>
          </a:p>
          <a:p>
            <a:pPr>
              <a:spcBef>
                <a:spcPts val="800"/>
              </a:spcBef>
            </a:pPr>
            <a:r>
              <a:rPr sz="1600">
                <a:solidFill>
                  <a:srgbClr val="444444"/>
                </a:solidFill>
                <a:latin typeface="Arial"/>
              </a:rPr>
              <a:t>✓  Linh hoạt xử lý thay đổi yêu cầu — cập nhật nhanh và có kiểm soát.</a:t>
            </a:r>
          </a:p>
          <a:p>
            <a:pPr>
              <a:spcBef>
                <a:spcPts val="800"/>
              </a:spcBef>
            </a:pPr>
            <a:r>
              <a:rPr sz="1600">
                <a:solidFill>
                  <a:srgbClr val="444444"/>
                </a:solidFill>
                <a:latin typeface="Arial"/>
              </a:rPr>
              <a:t>✓  Biết ứng dụng công nghệ để nâng cao hiệu quả và năng suất công việc.</a:t>
            </a:r>
          </a:p>
        </p:txBody>
      </p:sp>
      <p:sp>
        <p:nvSpPr>
          <p:cNvPr id="9" name="Rectangle 8"/>
          <p:cNvSpPr/>
          <p:nvPr/>
        </p:nvSpPr>
        <p:spPr>
          <a:xfrm>
            <a:off x="5989320" y="1234440"/>
            <a:ext cx="36576" cy="53035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0" y="1234440"/>
            <a:ext cx="5669280" cy="411480"/>
          </a:xfrm>
          <a:prstGeom prst="rect">
            <a:avLst/>
          </a:prstGeom>
          <a:noFill/>
        </p:spPr>
        <p:txBody>
          <a:bodyPr wrap="square">
            <a:spAutoFit/>
          </a:bodyPr>
          <a:lstStyle/>
          <a:p>
            <a:pPr algn="l"/>
            <a:r>
              <a:rPr sz="1800" b="1" i="0">
                <a:solidFill>
                  <a:srgbClr val="C0392B"/>
                </a:solidFill>
                <a:latin typeface="Arial"/>
              </a:rPr>
              <a:t>Khuyết điểm</a:t>
            </a:r>
          </a:p>
        </p:txBody>
      </p:sp>
      <p:sp>
        <p:nvSpPr>
          <p:cNvPr id="11" name="Rectangle 10"/>
          <p:cNvSpPr/>
          <p:nvPr/>
        </p:nvSpPr>
        <p:spPr>
          <a:xfrm>
            <a:off x="6126480" y="1645920"/>
            <a:ext cx="548640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1737360"/>
            <a:ext cx="5486400" cy="4754880"/>
          </a:xfrm>
          <a:prstGeom prst="rect">
            <a:avLst/>
          </a:prstGeom>
          <a:noFill/>
        </p:spPr>
        <p:txBody>
          <a:bodyPr wrap="square">
            <a:spAutoFit/>
          </a:bodyPr>
          <a:lstStyle/>
          <a:p>
            <a:pPr>
              <a:spcBef>
                <a:spcPts val="800"/>
              </a:spcBef>
            </a:pPr>
            <a:r>
              <a:rPr sz="1600">
                <a:solidFill>
                  <a:srgbClr val="444444"/>
                </a:solidFill>
                <a:latin typeface="Arial"/>
              </a:rPr>
              <a:t>△  Kinh nghiệm khai thác yêu cầu trực tiếp với khách hàng trong buổi họp còn hạn chế — cần cải thiện kỹ năng đặt câu hỏi và dẫn dắt thảo luận.</a:t>
            </a:r>
          </a:p>
          <a:p>
            <a:pPr>
              <a:spcBef>
                <a:spcPts val="800"/>
              </a:spcBef>
            </a:pPr>
            <a:r>
              <a:rPr sz="1600">
                <a:solidFill>
                  <a:srgbClr val="444444"/>
                </a:solidFill>
                <a:latin typeface="Arial"/>
              </a:rPr>
              <a:t>△  Đôi khi phân tích quá chi tiết giai đoạn đầu thay vì ưu tiên chốt quyết định lớn trước — cần cân bằng hơn giữa độ sâu và tiến độ.</a:t>
            </a:r>
          </a:p>
          <a:p>
            <a:pPr>
              <a:spcBef>
                <a:spcPts val="800"/>
              </a:spcBef>
            </a:pPr>
            <a:r>
              <a:rPr sz="1600">
                <a:solidFill>
                  <a:srgbClr val="444444"/>
                </a:solidFill>
                <a:latin typeface="Arial"/>
              </a:rPr>
              <a:t>△  Cần cải thiện kỹ năng trình bày kết quả trước nhiều bên liên quan, đặc biệt trong các buổi họp đông người.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88952"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91440"/>
            <a:ext cx="9601200" cy="868680"/>
          </a:xfrm>
          <a:prstGeom prst="rect">
            <a:avLst/>
          </a:prstGeom>
          <a:noFill/>
        </p:spPr>
        <p:txBody>
          <a:bodyPr wrap="square">
            <a:spAutoFit/>
          </a:bodyPr>
          <a:lstStyle/>
          <a:p>
            <a:pPr algn="l"/>
            <a:r>
              <a:rPr sz="2800" b="1" i="0">
                <a:solidFill>
                  <a:srgbClr val="1B2A4A"/>
                </a:solidFill>
                <a:latin typeface="Arial"/>
              </a:rPr>
              <a:t>VI. Mong muốn nguyện vọng bản thân</a:t>
            </a:r>
          </a:p>
        </p:txBody>
      </p:sp>
      <p:sp>
        <p:nvSpPr>
          <p:cNvPr id="5" name="TextBox 4"/>
          <p:cNvSpPr txBox="1"/>
          <p:nvPr/>
        </p:nvSpPr>
        <p:spPr>
          <a:xfrm>
            <a:off x="10515600" y="228600"/>
            <a:ext cx="1463040" cy="548640"/>
          </a:xfrm>
          <a:prstGeom prst="rect">
            <a:avLst/>
          </a:prstGeom>
          <a:noFill/>
        </p:spPr>
        <p:txBody>
          <a:bodyPr wrap="square">
            <a:spAutoFit/>
          </a:bodyPr>
          <a:lstStyle/>
          <a:p>
            <a:pPr algn="ctr"/>
            <a:r>
              <a:rPr sz="900" b="1" i="0">
                <a:solidFill>
                  <a:srgbClr val="1B2A4A"/>
                </a:solidFill>
                <a:latin typeface="Arial"/>
              </a:rPr>
              <a:t>VIETNAM POST</a:t>
            </a:r>
          </a:p>
        </p:txBody>
      </p:sp>
      <p:sp>
        <p:nvSpPr>
          <p:cNvPr id="6" name="TextBox 5"/>
          <p:cNvSpPr txBox="1"/>
          <p:nvPr/>
        </p:nvSpPr>
        <p:spPr>
          <a:xfrm>
            <a:off x="365760" y="1280160"/>
            <a:ext cx="11430000" cy="4389120"/>
          </a:xfrm>
          <a:prstGeom prst="rect">
            <a:avLst/>
          </a:prstGeom>
          <a:noFill/>
        </p:spPr>
        <p:txBody>
          <a:bodyPr wrap="square">
            <a:spAutoFit/>
          </a:bodyPr>
          <a:lstStyle/>
          <a:p>
            <a:pPr>
              <a:spcBef>
                <a:spcPts val="1600"/>
              </a:spcBef>
            </a:pPr>
            <a:r>
              <a:rPr sz="1800">
                <a:solidFill>
                  <a:srgbClr val="444444"/>
                </a:solidFill>
                <a:latin typeface="Arial"/>
              </a:rPr>
              <a:t>•  Mong muốn được tiếp tục gắn bó và phát triển lâu dài tại Trung tâm Đổi mới sáng tạo.</a:t>
            </a:r>
          </a:p>
          <a:p>
            <a:pPr>
              <a:spcBef>
                <a:spcPts val="1600"/>
              </a:spcBef>
            </a:pPr>
            <a:r>
              <a:rPr sz="1800">
                <a:solidFill>
                  <a:srgbClr val="444444"/>
                </a:solidFill>
                <a:latin typeface="Arial"/>
              </a:rPr>
              <a:t>•  Cam kết nâng cao năng lực chuyên môn — đặc biệt là kỹ năng khai thác yêu cầu trực tiếp và trình bày trước nhiều bên liên quan.</a:t>
            </a:r>
          </a:p>
          <a:p>
            <a:pPr>
              <a:spcBef>
                <a:spcPts val="1600"/>
              </a:spcBef>
            </a:pPr>
            <a:r>
              <a:rPr sz="1800">
                <a:solidFill>
                  <a:srgbClr val="444444"/>
                </a:solidFill>
                <a:latin typeface="Arial"/>
              </a:rPr>
              <a:t>•  Sẵn sàng nhận thêm trách nhiệm, đặc biệt là tham gia sâu vào giai đoạn phân tích và thiết kế chính thức của dự án CDP — nơi đã có nền tảng nghiên cứu ban đầu và còn nhiều bài toán thú vị cần tiếp tục giải quyết.</a:t>
            </a:r>
          </a:p>
        </p:txBody>
      </p:sp>
      <p:sp>
        <p:nvSpPr>
          <p:cNvPr id="7" name="Rectangle 6"/>
          <p:cNvSpPr/>
          <p:nvPr/>
        </p:nvSpPr>
        <p:spPr>
          <a:xfrm>
            <a:off x="2743200" y="5303520"/>
            <a:ext cx="640080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486400"/>
            <a:ext cx="8229600" cy="731520"/>
          </a:xfrm>
          <a:prstGeom prst="rect">
            <a:avLst/>
          </a:prstGeom>
          <a:noFill/>
        </p:spPr>
        <p:txBody>
          <a:bodyPr wrap="square">
            <a:spAutoFit/>
          </a:bodyPr>
          <a:lstStyle/>
          <a:p>
            <a:pPr algn="ctr"/>
            <a:r>
              <a:rPr sz="1600" b="0" i="1">
                <a:solidFill>
                  <a:srgbClr val="1B2A4A"/>
                </a:solidFill>
                <a:latin typeface="Arial"/>
              </a:rPr>
              <a:t>Kính mong lãnh đạo Trung tâm xem xét và tạo điều kiện để tiếp tục được cống hiến.
Xin trân trọng cảm 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